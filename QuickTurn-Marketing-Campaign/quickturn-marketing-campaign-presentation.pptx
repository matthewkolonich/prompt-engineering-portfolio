
<file path=[Content_Types].xml><?xml version="1.0" encoding="utf-8"?>
<Types xmlns="http://schemas.openxmlformats.org/package/2006/content-types">
  <Default Extension="png" ContentType="image/png"/>
  <Default Extension="mp3" ContentType="audio/mpe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1"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b lynn" initials="bl" lastIdx="2" clrIdx="0">
    <p:extLst>
      <p:ext uri="{19B8F6BF-5375-455C-9EA6-DF929625EA0E}">
        <p15:presenceInfo xmlns:p15="http://schemas.microsoft.com/office/powerpoint/2012/main" userId="fbcb810fffddda2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4" autoAdjust="0"/>
    <p:restoredTop sz="94660"/>
  </p:normalViewPr>
  <p:slideViewPr>
    <p:cSldViewPr snapToGrid="0">
      <p:cViewPr varScale="1">
        <p:scale>
          <a:sx n="87" d="100"/>
          <a:sy n="87" d="100"/>
        </p:scale>
        <p:origin x="69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5-09-29T10:56:07.003" idx="1">
    <p:pos x="10" y="10"/>
    <p:text/>
    <p:extLst>
      <p:ext uri="{C676402C-5697-4E1C-873F-D02D1690AC5C}">
        <p15:threadingInfo xmlns:p15="http://schemas.microsoft.com/office/powerpoint/2012/main" timeZoneBias="240"/>
      </p:ext>
    </p:extLst>
  </p:cm>
  <p:cm authorId="1" dt="2025-09-29T10:56:08.175" idx="2">
    <p:pos x="106" y="106"/>
    <p:text/>
    <p:extLst>
      <p:ext uri="{C676402C-5697-4E1C-873F-D02D1690AC5C}">
        <p15:threadingInfo xmlns:p15="http://schemas.microsoft.com/office/powerpoint/2012/main" timeZoneBias="24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0BF2D6-DAFE-45A6-93F9-40167D1D5774}" type="datetimeFigureOut">
              <a:rPr lang="en-US" smtClean="0"/>
              <a:t>6/15/2026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7CCA49-1ADB-4DFA-9681-CF858BB84080}" type="slidenum">
              <a:rPr lang="en-US" smtClean="0"/>
              <a:t>‹#›</a:t>
            </a:fld>
            <a:endParaRPr lang="en-US"/>
          </a:p>
        </p:txBody>
      </p:sp>
    </p:spTree>
    <p:extLst>
      <p:ext uri="{BB962C8B-B14F-4D97-AF65-F5344CB8AC3E}">
        <p14:creationId xmlns:p14="http://schemas.microsoft.com/office/powerpoint/2010/main" val="30506735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Hello,</a:t>
            </a:r>
            <a:r>
              <a:rPr lang="en-US" baseline="0" dirty="0" smtClean="0"/>
              <a:t> I am here to talk to you about my Unit 7 marketing assignment.  I am working on a marketing campaign for a company </a:t>
            </a:r>
            <a:r>
              <a:rPr lang="en-US" baseline="0" dirty="0" err="1" smtClean="0"/>
              <a:t>QuickTurn</a:t>
            </a:r>
            <a:r>
              <a:rPr lang="en-US" baseline="0" dirty="0" smtClean="0"/>
              <a:t> Grading.  </a:t>
            </a:r>
            <a:r>
              <a:rPr lang="en-US" baseline="0" dirty="0" err="1" smtClean="0"/>
              <a:t>QuickTurn</a:t>
            </a:r>
            <a:r>
              <a:rPr lang="en-US" baseline="0" dirty="0" smtClean="0"/>
              <a:t> Grading is a sports card grading service.  We specialize in professionally grading customers cards.  The company prides itself on following its 3 core values of speed, fairness, and trust.</a:t>
            </a:r>
            <a:endParaRPr lang="en-US" dirty="0"/>
          </a:p>
        </p:txBody>
      </p:sp>
      <p:sp>
        <p:nvSpPr>
          <p:cNvPr id="4" name="Slide Number Placeholder 3"/>
          <p:cNvSpPr>
            <a:spLocks noGrp="1"/>
          </p:cNvSpPr>
          <p:nvPr>
            <p:ph type="sldNum" sz="quarter" idx="10"/>
          </p:nvPr>
        </p:nvSpPr>
        <p:spPr/>
        <p:txBody>
          <a:bodyPr/>
          <a:lstStyle/>
          <a:p>
            <a:fld id="{6F7CCA49-1ADB-4DFA-9681-CF858BB84080}" type="slidenum">
              <a:rPr lang="en-US" smtClean="0"/>
              <a:t>1</a:t>
            </a:fld>
            <a:endParaRPr lang="en-US"/>
          </a:p>
        </p:txBody>
      </p:sp>
    </p:spTree>
    <p:extLst>
      <p:ext uri="{BB962C8B-B14F-4D97-AF65-F5344CB8AC3E}">
        <p14:creationId xmlns:p14="http://schemas.microsoft.com/office/powerpoint/2010/main" val="22155632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target market</a:t>
            </a:r>
            <a:r>
              <a:rPr lang="en-US" baseline="0" dirty="0" smtClean="0"/>
              <a:t> for our service is sport card collectors.  This includes anybody looking for sports memorabilia.  Our service is meant to professionally grade cards to increase there value.  This should be appealing to all collectors, sports card traders, and any sports enthusiasts that want to have their cards professionally graded to increase value and worth.</a:t>
            </a:r>
            <a:endParaRPr lang="en-US" dirty="0"/>
          </a:p>
        </p:txBody>
      </p:sp>
      <p:sp>
        <p:nvSpPr>
          <p:cNvPr id="4" name="Slide Number Placeholder 3"/>
          <p:cNvSpPr>
            <a:spLocks noGrp="1"/>
          </p:cNvSpPr>
          <p:nvPr>
            <p:ph type="sldNum" sz="quarter" idx="10"/>
          </p:nvPr>
        </p:nvSpPr>
        <p:spPr/>
        <p:txBody>
          <a:bodyPr/>
          <a:lstStyle/>
          <a:p>
            <a:fld id="{6F7CCA49-1ADB-4DFA-9681-CF858BB84080}" type="slidenum">
              <a:rPr lang="en-US" smtClean="0"/>
              <a:t>2</a:t>
            </a:fld>
            <a:endParaRPr lang="en-US"/>
          </a:p>
        </p:txBody>
      </p:sp>
    </p:spTree>
    <p:extLst>
      <p:ext uri="{BB962C8B-B14F-4D97-AF65-F5344CB8AC3E}">
        <p14:creationId xmlns:p14="http://schemas.microsoft.com/office/powerpoint/2010/main" val="1608824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first wanted to come up with a slogan to advertise the company.  Using </a:t>
            </a:r>
            <a:r>
              <a:rPr lang="en-US" dirty="0" err="1" smtClean="0"/>
              <a:t>ChatGPT</a:t>
            </a:r>
            <a:r>
              <a:rPr lang="en-US" baseline="0" dirty="0" smtClean="0"/>
              <a:t> we created multiple lines for slogans.  We narrowed it down to the current, </a:t>
            </a:r>
            <a:r>
              <a:rPr lang="en-US" baseline="0" dirty="0" err="1" smtClean="0"/>
              <a:t>QuickTurn</a:t>
            </a:r>
            <a:r>
              <a:rPr lang="en-US" baseline="0" dirty="0" smtClean="0"/>
              <a:t> Grading You Can Trust.   This slogan works because it emphasis two of our values in speed and trustworthiness.  This slogan also incorporates the company name, as well as using the name in the slogan that makes grammatical sense.  The name of the company flows with the slogan.</a:t>
            </a:r>
            <a:endParaRPr lang="en-US" dirty="0"/>
          </a:p>
        </p:txBody>
      </p:sp>
      <p:sp>
        <p:nvSpPr>
          <p:cNvPr id="4" name="Slide Number Placeholder 3"/>
          <p:cNvSpPr>
            <a:spLocks noGrp="1"/>
          </p:cNvSpPr>
          <p:nvPr>
            <p:ph type="sldNum" sz="quarter" idx="10"/>
          </p:nvPr>
        </p:nvSpPr>
        <p:spPr/>
        <p:txBody>
          <a:bodyPr/>
          <a:lstStyle/>
          <a:p>
            <a:fld id="{6F7CCA49-1ADB-4DFA-9681-CF858BB84080}" type="slidenum">
              <a:rPr lang="en-US" smtClean="0"/>
              <a:t>3</a:t>
            </a:fld>
            <a:endParaRPr lang="en-US"/>
          </a:p>
        </p:txBody>
      </p:sp>
    </p:spTree>
    <p:extLst>
      <p:ext uri="{BB962C8B-B14F-4D97-AF65-F5344CB8AC3E}">
        <p14:creationId xmlns:p14="http://schemas.microsoft.com/office/powerpoint/2010/main" val="2129228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My next marketing artifact</a:t>
            </a:r>
            <a:r>
              <a:rPr lang="en-US" baseline="0" dirty="0" smtClean="0"/>
              <a:t> I created was a poster advertisement.   The poster I created incorporates our 3 values of speed, accuracy, and trustworthiness.  It also uses the slogan that we created on the poster.  The images show card collectors in the background to resonate with hobbyists as well as having an Artificial Image of a graded sports card.  We used the image for copyright issues.</a:t>
            </a:r>
            <a:endParaRPr lang="en-US" dirty="0"/>
          </a:p>
        </p:txBody>
      </p:sp>
      <p:sp>
        <p:nvSpPr>
          <p:cNvPr id="4" name="Slide Number Placeholder 3"/>
          <p:cNvSpPr>
            <a:spLocks noGrp="1"/>
          </p:cNvSpPr>
          <p:nvPr>
            <p:ph type="sldNum" sz="quarter" idx="10"/>
          </p:nvPr>
        </p:nvSpPr>
        <p:spPr/>
        <p:txBody>
          <a:bodyPr/>
          <a:lstStyle/>
          <a:p>
            <a:fld id="{6F7CCA49-1ADB-4DFA-9681-CF858BB84080}" type="slidenum">
              <a:rPr lang="en-US" smtClean="0"/>
              <a:t>4</a:t>
            </a:fld>
            <a:endParaRPr lang="en-US"/>
          </a:p>
        </p:txBody>
      </p:sp>
    </p:spTree>
    <p:extLst>
      <p:ext uri="{BB962C8B-B14F-4D97-AF65-F5344CB8AC3E}">
        <p14:creationId xmlns:p14="http://schemas.microsoft.com/office/powerpoint/2010/main" val="5958939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next wanted to create a Landing</a:t>
            </a:r>
            <a:r>
              <a:rPr lang="en-US" baseline="0" dirty="0" smtClean="0"/>
              <a:t> Page Hero for a website.  This is an ad found on a webpage that you can also click on.  The landing page once again implies our 3 values of speed, trustworthiness, and accuracy.  The background has an image of someone submitting something on a computer.  This relates to what we want the consumer to do.  The slogan is also visible.  I included a AI created graded card image with streaks.  The streaks were added to emphasize speed.  There is also the start your submission button front and center to entice people to click.</a:t>
            </a:r>
            <a:endParaRPr lang="en-US" dirty="0"/>
          </a:p>
        </p:txBody>
      </p:sp>
      <p:sp>
        <p:nvSpPr>
          <p:cNvPr id="4" name="Slide Number Placeholder 3"/>
          <p:cNvSpPr>
            <a:spLocks noGrp="1"/>
          </p:cNvSpPr>
          <p:nvPr>
            <p:ph type="sldNum" sz="quarter" idx="10"/>
          </p:nvPr>
        </p:nvSpPr>
        <p:spPr/>
        <p:txBody>
          <a:bodyPr/>
          <a:lstStyle/>
          <a:p>
            <a:fld id="{6F7CCA49-1ADB-4DFA-9681-CF858BB84080}" type="slidenum">
              <a:rPr lang="en-US" smtClean="0"/>
              <a:t>5</a:t>
            </a:fld>
            <a:endParaRPr lang="en-US"/>
          </a:p>
        </p:txBody>
      </p:sp>
    </p:spTree>
    <p:extLst>
      <p:ext uri="{BB962C8B-B14F-4D97-AF65-F5344CB8AC3E}">
        <p14:creationId xmlns:p14="http://schemas.microsoft.com/office/powerpoint/2010/main" val="6671958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4</a:t>
            </a:r>
            <a:r>
              <a:rPr lang="en-US" baseline="30000" dirty="0" smtClean="0"/>
              <a:t>th</a:t>
            </a:r>
            <a:r>
              <a:rPr lang="en-US" baseline="0" dirty="0" smtClean="0"/>
              <a:t> marketing artifact I created was a blog style explainer.  This is like a quick fact sheet for customers to use.  It goes over are 3 core values and explains how we implement these values everyday.  The explainer is broken into sections so consumers can go to what section is important to them.  We also included the bullets for this reason as well as to make it easier to scan.  Besides using our three core values we also have implemented our slogan at the end.</a:t>
            </a:r>
            <a:endParaRPr lang="en-US" dirty="0"/>
          </a:p>
        </p:txBody>
      </p:sp>
      <p:sp>
        <p:nvSpPr>
          <p:cNvPr id="4" name="Slide Number Placeholder 3"/>
          <p:cNvSpPr>
            <a:spLocks noGrp="1"/>
          </p:cNvSpPr>
          <p:nvPr>
            <p:ph type="sldNum" sz="quarter" idx="10"/>
          </p:nvPr>
        </p:nvSpPr>
        <p:spPr/>
        <p:txBody>
          <a:bodyPr/>
          <a:lstStyle/>
          <a:p>
            <a:fld id="{6F7CCA49-1ADB-4DFA-9681-CF858BB84080}" type="slidenum">
              <a:rPr lang="en-US" smtClean="0"/>
              <a:t>6</a:t>
            </a:fld>
            <a:endParaRPr lang="en-US"/>
          </a:p>
        </p:txBody>
      </p:sp>
    </p:spTree>
    <p:extLst>
      <p:ext uri="{BB962C8B-B14F-4D97-AF65-F5344CB8AC3E}">
        <p14:creationId xmlns:p14="http://schemas.microsoft.com/office/powerpoint/2010/main" val="3058374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created</a:t>
            </a:r>
            <a:r>
              <a:rPr lang="en-US" baseline="0" dirty="0" smtClean="0"/>
              <a:t> and audio jingle for my marketing campaign.  It has a casual upbeat tone that can hook customers.  Its lyrics convey our 3 core values.  The company name is used repeatedly throughout to reinforce our company </a:t>
            </a:r>
            <a:r>
              <a:rPr lang="en-US" baseline="0" smtClean="0"/>
              <a:t>to consumers.  </a:t>
            </a:r>
            <a:endParaRPr lang="en-US" dirty="0"/>
          </a:p>
        </p:txBody>
      </p:sp>
      <p:sp>
        <p:nvSpPr>
          <p:cNvPr id="4" name="Slide Number Placeholder 3"/>
          <p:cNvSpPr>
            <a:spLocks noGrp="1"/>
          </p:cNvSpPr>
          <p:nvPr>
            <p:ph type="sldNum" sz="quarter" idx="10"/>
          </p:nvPr>
        </p:nvSpPr>
        <p:spPr/>
        <p:txBody>
          <a:bodyPr/>
          <a:lstStyle/>
          <a:p>
            <a:fld id="{6F7CCA49-1ADB-4DFA-9681-CF858BB84080}" type="slidenum">
              <a:rPr lang="en-US" smtClean="0"/>
              <a:t>7</a:t>
            </a:fld>
            <a:endParaRPr lang="en-US"/>
          </a:p>
        </p:txBody>
      </p:sp>
    </p:spTree>
    <p:extLst>
      <p:ext uri="{BB962C8B-B14F-4D97-AF65-F5344CB8AC3E}">
        <p14:creationId xmlns:p14="http://schemas.microsoft.com/office/powerpoint/2010/main" val="2202563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9833659-1EFE-4D7B-82B0-1FE00A9EB2C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C8CC3-61C2-476D-8742-B0F6EF7BEB20}"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248517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833659-1EFE-4D7B-82B0-1FE00A9EB2C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35633342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33659-1EFE-4D7B-82B0-1FE00A9EB2C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3624659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9833659-1EFE-4D7B-82B0-1FE00A9EB2C1}"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2764925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9833659-1EFE-4D7B-82B0-1FE00A9EB2C1}" type="datetimeFigureOut">
              <a:rPr lang="en-US" smtClean="0"/>
              <a:t>6/15/2026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4467905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9833659-1EFE-4D7B-82B0-1FE00A9EB2C1}"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3953837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833659-1EFE-4D7B-82B0-1FE00A9EB2C1}" type="datetimeFigureOut">
              <a:rPr lang="en-US" smtClean="0"/>
              <a:t>6/15/2026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36498243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9833659-1EFE-4D7B-82B0-1FE00A9EB2C1}"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2908668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9833659-1EFE-4D7B-82B0-1FE00A9EB2C1}" type="datetimeFigureOut">
              <a:rPr lang="en-US" smtClean="0"/>
              <a:t>6/15/2026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21183117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Date Placeholder 2"/>
          <p:cNvSpPr>
            <a:spLocks noGrp="1"/>
          </p:cNvSpPr>
          <p:nvPr>
            <p:ph type="dt" sz="half" idx="10"/>
          </p:nvPr>
        </p:nvSpPr>
        <p:spPr/>
        <p:txBody>
          <a:bodyPr/>
          <a:lstStyle/>
          <a:p>
            <a:fld id="{E9833659-1EFE-4D7B-82B0-1FE00A9EB2C1}" type="datetimeFigureOut">
              <a:rPr lang="en-US" smtClean="0"/>
              <a:t>6/15/2026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1315083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33659-1EFE-4D7B-82B0-1FE00A9EB2C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5963802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33659-1EFE-4D7B-82B0-1FE00A9EB2C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C8CC3-61C2-476D-8742-B0F6EF7BEB20}"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519081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33659-1EFE-4D7B-82B0-1FE00A9EB2C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4021913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33659-1EFE-4D7B-82B0-1FE00A9EB2C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C8CC3-61C2-476D-8742-B0F6EF7BEB20}"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0841773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9833659-1EFE-4D7B-82B0-1FE00A9EB2C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32724476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833659-1EFE-4D7B-82B0-1FE00A9EB2C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324058958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9833659-1EFE-4D7B-82B0-1FE00A9EB2C1}" type="datetimeFigureOut">
              <a:rPr lang="en-US" smtClean="0"/>
              <a:t>6/15/2026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03C8CC3-61C2-476D-8742-B0F6EF7BEB20}" type="slidenum">
              <a:rPr lang="en-US" smtClean="0"/>
              <a:t>‹#›</a:t>
            </a:fld>
            <a:endParaRPr lang="en-US"/>
          </a:p>
        </p:txBody>
      </p:sp>
    </p:spTree>
    <p:extLst>
      <p:ext uri="{BB962C8B-B14F-4D97-AF65-F5344CB8AC3E}">
        <p14:creationId xmlns:p14="http://schemas.microsoft.com/office/powerpoint/2010/main" val="38762361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E9833659-1EFE-4D7B-82B0-1FE00A9EB2C1}" type="datetimeFigureOut">
              <a:rPr lang="en-US" smtClean="0"/>
              <a:t>6/15/2026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C03C8CC3-61C2-476D-8742-B0F6EF7BEB20}" type="slidenum">
              <a:rPr lang="en-US" smtClean="0"/>
              <a:t>‹#›</a:t>
            </a:fld>
            <a:endParaRPr lang="en-US"/>
          </a:p>
        </p:txBody>
      </p:sp>
    </p:spTree>
    <p:extLst>
      <p:ext uri="{BB962C8B-B14F-4D97-AF65-F5344CB8AC3E}">
        <p14:creationId xmlns:p14="http://schemas.microsoft.com/office/powerpoint/2010/main" val="3383122177"/>
      </p:ext>
    </p:extLst>
  </p:cSld>
  <p:clrMap bg1="dk1" tx1="lt1" bg2="dk2" tx2="lt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7128" y="176790"/>
            <a:ext cx="9144000" cy="893473"/>
          </a:xfrm>
        </p:spPr>
        <p:txBody>
          <a:bodyPr>
            <a:normAutofit fontScale="90000"/>
          </a:bodyPr>
          <a:lstStyle/>
          <a:p>
            <a:r>
              <a:rPr lang="en-US" dirty="0" smtClean="0"/>
              <a:t>Unit 7 Marketing Assignment</a:t>
            </a:r>
            <a:endParaRPr lang="en-US" dirty="0"/>
          </a:p>
        </p:txBody>
      </p:sp>
      <p:sp>
        <p:nvSpPr>
          <p:cNvPr id="3" name="Subtitle 2"/>
          <p:cNvSpPr>
            <a:spLocks noGrp="1"/>
          </p:cNvSpPr>
          <p:nvPr>
            <p:ph type="subTitle" idx="1"/>
          </p:nvPr>
        </p:nvSpPr>
        <p:spPr>
          <a:xfrm>
            <a:off x="1482437" y="2504208"/>
            <a:ext cx="7235536" cy="2670464"/>
          </a:xfrm>
        </p:spPr>
        <p:txBody>
          <a:bodyPr>
            <a:normAutofit fontScale="92500" lnSpcReduction="10000"/>
          </a:bodyPr>
          <a:lstStyle/>
          <a:p>
            <a:r>
              <a:rPr lang="en-US" sz="9600" dirty="0" err="1" smtClean="0">
                <a:solidFill>
                  <a:schemeClr val="tx1"/>
                </a:solidFill>
              </a:rPr>
              <a:t>QuickTurn</a:t>
            </a:r>
            <a:r>
              <a:rPr lang="en-US" sz="9600" dirty="0" smtClean="0">
                <a:solidFill>
                  <a:schemeClr val="tx1"/>
                </a:solidFill>
              </a:rPr>
              <a:t> Grading</a:t>
            </a:r>
            <a:endParaRPr lang="en-US" sz="9600" dirty="0">
              <a:solidFill>
                <a:schemeClr val="tx1"/>
              </a:solidFill>
            </a:endParaRPr>
          </a:p>
        </p:txBody>
      </p:sp>
    </p:spTree>
    <p:extLst>
      <p:ext uri="{BB962C8B-B14F-4D97-AF65-F5344CB8AC3E}">
        <p14:creationId xmlns:p14="http://schemas.microsoft.com/office/powerpoint/2010/main" val="134068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1631663" y="190041"/>
            <a:ext cx="8001000" cy="768426"/>
          </a:xfrm>
        </p:spPr>
        <p:txBody>
          <a:bodyPr>
            <a:noAutofit/>
          </a:bodyPr>
          <a:lstStyle/>
          <a:p>
            <a:r>
              <a:rPr lang="en-US" sz="5400" dirty="0" smtClean="0"/>
              <a:t>Target Market</a:t>
            </a:r>
            <a:endParaRPr lang="en-US" sz="5400" dirty="0"/>
          </a:p>
        </p:txBody>
      </p:sp>
      <p:sp>
        <p:nvSpPr>
          <p:cNvPr id="5" name="Subtitle 4"/>
          <p:cNvSpPr>
            <a:spLocks noGrp="1"/>
          </p:cNvSpPr>
          <p:nvPr>
            <p:ph type="subTitle" idx="1"/>
          </p:nvPr>
        </p:nvSpPr>
        <p:spPr>
          <a:xfrm>
            <a:off x="605927" y="1619479"/>
            <a:ext cx="6390949" cy="3415229"/>
          </a:xfrm>
        </p:spPr>
        <p:txBody>
          <a:bodyPr>
            <a:normAutofit/>
          </a:bodyPr>
          <a:lstStyle/>
          <a:p>
            <a:pPr marL="342900" indent="-342900">
              <a:buFont typeface="Arial" panose="020B0604020202020204" pitchFamily="34" charset="0"/>
              <a:buChar char="•"/>
            </a:pPr>
            <a:r>
              <a:rPr lang="en-US" sz="2800" dirty="0" smtClean="0">
                <a:solidFill>
                  <a:schemeClr val="tx1"/>
                </a:solidFill>
              </a:rPr>
              <a:t>Sports Card Collectors</a:t>
            </a:r>
          </a:p>
          <a:p>
            <a:pPr marL="342900" indent="-342900">
              <a:buFont typeface="Arial" panose="020B0604020202020204" pitchFamily="34" charset="0"/>
              <a:buChar char="•"/>
            </a:pPr>
            <a:r>
              <a:rPr lang="en-US" sz="2800" dirty="0" smtClean="0">
                <a:solidFill>
                  <a:schemeClr val="tx1"/>
                </a:solidFill>
              </a:rPr>
              <a:t>Memorabilia Collectors</a:t>
            </a:r>
          </a:p>
          <a:p>
            <a:pPr marL="342900" indent="-342900">
              <a:buFont typeface="Arial" panose="020B0604020202020204" pitchFamily="34" charset="0"/>
              <a:buChar char="•"/>
            </a:pPr>
            <a:r>
              <a:rPr lang="en-US" sz="2800" dirty="0" smtClean="0">
                <a:solidFill>
                  <a:schemeClr val="tx1"/>
                </a:solidFill>
              </a:rPr>
              <a:t>Sports Card Traders</a:t>
            </a:r>
          </a:p>
          <a:p>
            <a:pPr marL="342900" indent="-342900">
              <a:buFont typeface="Arial" panose="020B0604020202020204" pitchFamily="34" charset="0"/>
              <a:buChar char="•"/>
            </a:pPr>
            <a:r>
              <a:rPr lang="en-US" sz="2800" dirty="0" smtClean="0">
                <a:solidFill>
                  <a:schemeClr val="tx1"/>
                </a:solidFill>
              </a:rPr>
              <a:t>Sports Enthusiasts</a:t>
            </a:r>
          </a:p>
          <a:p>
            <a:pPr marL="342900" indent="-342900">
              <a:buFont typeface="Arial" panose="020B0604020202020204" pitchFamily="34" charset="0"/>
              <a:buChar char="•"/>
            </a:pPr>
            <a:r>
              <a:rPr lang="en-US" sz="2800" dirty="0" smtClean="0">
                <a:solidFill>
                  <a:schemeClr val="tx1"/>
                </a:solidFill>
              </a:rPr>
              <a:t>Collectors</a:t>
            </a:r>
            <a:endParaRPr lang="en-US" sz="2800" dirty="0">
              <a:solidFill>
                <a:schemeClr val="tx1"/>
              </a:solidFill>
            </a:endParaRPr>
          </a:p>
        </p:txBody>
      </p:sp>
    </p:spTree>
    <p:extLst>
      <p:ext uri="{BB962C8B-B14F-4D97-AF65-F5344CB8AC3E}">
        <p14:creationId xmlns:p14="http://schemas.microsoft.com/office/powerpoint/2010/main" val="8771761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4212" y="685800"/>
            <a:ext cx="8001000" cy="977748"/>
          </a:xfrm>
        </p:spPr>
        <p:txBody>
          <a:bodyPr/>
          <a:lstStyle/>
          <a:p>
            <a:pPr algn="ctr"/>
            <a:r>
              <a:rPr lang="en-US" b="1" dirty="0" err="1" smtClean="0"/>
              <a:t>SLogan</a:t>
            </a:r>
            <a:endParaRPr lang="en-US" b="1" dirty="0"/>
          </a:p>
        </p:txBody>
      </p:sp>
      <p:sp>
        <p:nvSpPr>
          <p:cNvPr id="5" name="Subtitle 4"/>
          <p:cNvSpPr>
            <a:spLocks noGrp="1"/>
          </p:cNvSpPr>
          <p:nvPr>
            <p:ph type="subTitle" idx="1"/>
          </p:nvPr>
        </p:nvSpPr>
        <p:spPr>
          <a:xfrm>
            <a:off x="375740" y="2158286"/>
            <a:ext cx="6400800" cy="1947333"/>
          </a:xfrm>
        </p:spPr>
        <p:txBody>
          <a:bodyPr>
            <a:noAutofit/>
          </a:bodyPr>
          <a:lstStyle/>
          <a:p>
            <a:pPr algn="ctr"/>
            <a:r>
              <a:rPr lang="en-US" sz="5400" dirty="0" err="1" smtClean="0">
                <a:solidFill>
                  <a:schemeClr val="tx1"/>
                </a:solidFill>
              </a:rPr>
              <a:t>QuickTurn</a:t>
            </a:r>
            <a:r>
              <a:rPr lang="en-US" sz="5400" dirty="0" smtClean="0">
                <a:solidFill>
                  <a:schemeClr val="tx1"/>
                </a:solidFill>
              </a:rPr>
              <a:t> Grading You Can Trust</a:t>
            </a:r>
            <a:endParaRPr lang="en-US" sz="5400" dirty="0">
              <a:solidFill>
                <a:schemeClr val="tx1"/>
              </a:solidFill>
            </a:endParaRPr>
          </a:p>
        </p:txBody>
      </p:sp>
    </p:spTree>
    <p:extLst>
      <p:ext uri="{BB962C8B-B14F-4D97-AF65-F5344CB8AC3E}">
        <p14:creationId xmlns:p14="http://schemas.microsoft.com/office/powerpoint/2010/main" val="42680661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4212" y="484742"/>
            <a:ext cx="8001000" cy="1002536"/>
          </a:xfrm>
        </p:spPr>
        <p:txBody>
          <a:bodyPr>
            <a:normAutofit/>
          </a:bodyPr>
          <a:lstStyle/>
          <a:p>
            <a:pPr algn="ctr"/>
            <a:r>
              <a:rPr lang="en-US" sz="5400" b="1" dirty="0" smtClean="0"/>
              <a:t>Poster Advertisement</a:t>
            </a:r>
            <a:endParaRPr lang="en-US" sz="5400" b="1" dirty="0"/>
          </a:p>
        </p:txBody>
      </p:sp>
      <p:pic>
        <p:nvPicPr>
          <p:cNvPr id="4" name="Picture 3"/>
          <p:cNvPicPr>
            <a:picLocks noChangeAspect="1"/>
          </p:cNvPicPr>
          <p:nvPr/>
        </p:nvPicPr>
        <p:blipFill>
          <a:blip r:embed="rId3"/>
          <a:stretch>
            <a:fillRect/>
          </a:stretch>
        </p:blipFill>
        <p:spPr>
          <a:xfrm>
            <a:off x="2060441" y="1819161"/>
            <a:ext cx="2981325" cy="4343400"/>
          </a:xfrm>
          <a:prstGeom prst="rect">
            <a:avLst/>
          </a:prstGeom>
        </p:spPr>
      </p:pic>
    </p:spTree>
    <p:extLst>
      <p:ext uri="{BB962C8B-B14F-4D97-AF65-F5344CB8AC3E}">
        <p14:creationId xmlns:p14="http://schemas.microsoft.com/office/powerpoint/2010/main" val="14553591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25735" y="333260"/>
            <a:ext cx="8534400" cy="1054865"/>
          </a:xfrm>
        </p:spPr>
        <p:txBody>
          <a:bodyPr>
            <a:normAutofit/>
          </a:bodyPr>
          <a:lstStyle/>
          <a:p>
            <a:pPr marL="0" indent="0" algn="ctr">
              <a:buNone/>
            </a:pPr>
            <a:r>
              <a:rPr lang="en-US" sz="6000" b="1" dirty="0" smtClean="0">
                <a:solidFill>
                  <a:schemeClr val="tx1"/>
                </a:solidFill>
              </a:rPr>
              <a:t>Landing Page Hero</a:t>
            </a:r>
            <a:endParaRPr lang="en-US" sz="6000" b="1" dirty="0">
              <a:solidFill>
                <a:schemeClr val="tx1"/>
              </a:solidFill>
            </a:endParaRPr>
          </a:p>
        </p:txBody>
      </p:sp>
      <p:pic>
        <p:nvPicPr>
          <p:cNvPr id="4" name="Picture 3"/>
          <p:cNvPicPr>
            <a:picLocks noChangeAspect="1"/>
          </p:cNvPicPr>
          <p:nvPr/>
        </p:nvPicPr>
        <p:blipFill>
          <a:blip r:embed="rId3"/>
          <a:stretch>
            <a:fillRect/>
          </a:stretch>
        </p:blipFill>
        <p:spPr>
          <a:xfrm>
            <a:off x="1564395" y="1520327"/>
            <a:ext cx="4726236" cy="5199961"/>
          </a:xfrm>
          <a:prstGeom prst="rect">
            <a:avLst/>
          </a:prstGeom>
        </p:spPr>
      </p:pic>
    </p:spTree>
    <p:extLst>
      <p:ext uri="{BB962C8B-B14F-4D97-AF65-F5344CB8AC3E}">
        <p14:creationId xmlns:p14="http://schemas.microsoft.com/office/powerpoint/2010/main" val="37505473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13870" y="0"/>
            <a:ext cx="8001000" cy="823512"/>
          </a:xfrm>
        </p:spPr>
        <p:txBody>
          <a:bodyPr/>
          <a:lstStyle/>
          <a:p>
            <a:pPr algn="ctr"/>
            <a:r>
              <a:rPr lang="en-US" b="1" dirty="0" smtClean="0"/>
              <a:t>Blog Style Explainer</a:t>
            </a:r>
            <a:endParaRPr lang="en-US" b="1" dirty="0"/>
          </a:p>
        </p:txBody>
      </p:sp>
      <p:sp>
        <p:nvSpPr>
          <p:cNvPr id="3" name="Subtitle 2"/>
          <p:cNvSpPr>
            <a:spLocks noGrp="1"/>
          </p:cNvSpPr>
          <p:nvPr>
            <p:ph type="subTitle" idx="1"/>
          </p:nvPr>
        </p:nvSpPr>
        <p:spPr>
          <a:xfrm>
            <a:off x="198304" y="823512"/>
            <a:ext cx="9177050" cy="5797625"/>
          </a:xfrm>
        </p:spPr>
        <p:txBody>
          <a:bodyPr>
            <a:normAutofit fontScale="40000" lnSpcReduction="20000"/>
          </a:bodyPr>
          <a:lstStyle/>
          <a:p>
            <a:r>
              <a:rPr lang="en-US" sz="2300" dirty="0">
                <a:solidFill>
                  <a:schemeClr val="tx1"/>
                </a:solidFill>
              </a:rPr>
              <a:t>We’ve all been there—you pull a hot rookie out of a live break, and now you’re itching to get it slabbed before the hype cools off. Nothing’s worse than sending your cards off and waiting months, wondering if they’ll come back in time for the next card show or before that eBay auction ends.</a:t>
            </a:r>
          </a:p>
          <a:p>
            <a:r>
              <a:rPr lang="en-US" sz="2300" dirty="0">
                <a:solidFill>
                  <a:schemeClr val="tx1"/>
                </a:solidFill>
              </a:rPr>
              <a:t>In this hobby, speed matters:	</a:t>
            </a:r>
          </a:p>
          <a:p>
            <a:r>
              <a:rPr lang="en-US" sz="2300" dirty="0">
                <a:solidFill>
                  <a:schemeClr val="tx1"/>
                </a:solidFill>
              </a:rPr>
              <a:t>•	Card shows don’t wait. If your slabs aren’t ready, you’re missing deals on the floor.</a:t>
            </a:r>
          </a:p>
          <a:p>
            <a:r>
              <a:rPr lang="en-US" sz="2300" dirty="0">
                <a:solidFill>
                  <a:schemeClr val="tx1"/>
                </a:solidFill>
              </a:rPr>
              <a:t>•	Online sales move fast. eBay and Whatnot buyers want graded cards yesterday.</a:t>
            </a:r>
          </a:p>
          <a:p>
            <a:r>
              <a:rPr lang="en-US" sz="2300" dirty="0">
                <a:solidFill>
                  <a:schemeClr val="tx1"/>
                </a:solidFill>
              </a:rPr>
              <a:t>•	Momentum is real. Grading delays kill excitement and can cost you real money.</a:t>
            </a:r>
          </a:p>
          <a:p>
            <a:r>
              <a:rPr lang="en-US" sz="2300" dirty="0">
                <a:solidFill>
                  <a:schemeClr val="tx1"/>
                </a:solidFill>
              </a:rPr>
              <a:t>A quick turnaround keeps your cards—and your hustle—moving.</a:t>
            </a:r>
          </a:p>
          <a:p>
            <a:r>
              <a:rPr lang="en-US" sz="2300" dirty="0">
                <a:solidFill>
                  <a:schemeClr val="tx1"/>
                </a:solidFill>
              </a:rPr>
              <a:t>________________________________________</a:t>
            </a:r>
          </a:p>
          <a:p>
            <a:r>
              <a:rPr lang="en-US" sz="2300" dirty="0">
                <a:solidFill>
                  <a:schemeClr val="tx1"/>
                </a:solidFill>
              </a:rPr>
              <a:t>Fairness and Trust</a:t>
            </a:r>
          </a:p>
          <a:p>
            <a:r>
              <a:rPr lang="en-US" sz="2300" dirty="0">
                <a:solidFill>
                  <a:schemeClr val="tx1"/>
                </a:solidFill>
              </a:rPr>
              <a:t>Of course, fast isn’t enough if you can’t believe the grade on the label. We all know the frustration when a card comes back and you’re left scratching your head. Consistency and fairness are everything in this game.</a:t>
            </a:r>
          </a:p>
          <a:p>
            <a:r>
              <a:rPr lang="en-US" sz="2300" dirty="0">
                <a:solidFill>
                  <a:schemeClr val="tx1"/>
                </a:solidFill>
              </a:rPr>
              <a:t>Why it matters:</a:t>
            </a:r>
          </a:p>
          <a:p>
            <a:r>
              <a:rPr lang="en-US" sz="2300" dirty="0">
                <a:solidFill>
                  <a:schemeClr val="tx1"/>
                </a:solidFill>
              </a:rPr>
              <a:t>•	Trust makes trades possible. If buyers can’t rely on the grade, deals fall apart.</a:t>
            </a:r>
          </a:p>
          <a:p>
            <a:r>
              <a:rPr lang="en-US" sz="2300" dirty="0">
                <a:solidFill>
                  <a:schemeClr val="tx1"/>
                </a:solidFill>
              </a:rPr>
              <a:t>•	Fair slabs protect value. A “9” should feel like a “9,” no matter what.</a:t>
            </a:r>
          </a:p>
          <a:p>
            <a:r>
              <a:rPr lang="en-US" sz="2300" dirty="0">
                <a:solidFill>
                  <a:schemeClr val="tx1"/>
                </a:solidFill>
              </a:rPr>
              <a:t>•	The hobby depends on it. Without trust in grading, the whole market loses steam.</a:t>
            </a:r>
          </a:p>
          <a:p>
            <a:r>
              <a:rPr lang="en-US" sz="2300" dirty="0">
                <a:solidFill>
                  <a:schemeClr val="tx1"/>
                </a:solidFill>
              </a:rPr>
              <a:t>At the end of the day, you just want to know your cards are judged the same way as everyone else’s—straightforward and fair.</a:t>
            </a:r>
          </a:p>
          <a:p>
            <a:r>
              <a:rPr lang="en-US" sz="2300" dirty="0">
                <a:solidFill>
                  <a:schemeClr val="tx1"/>
                </a:solidFill>
              </a:rPr>
              <a:t>________________________________________</a:t>
            </a:r>
          </a:p>
          <a:p>
            <a:r>
              <a:rPr lang="en-US" sz="2300" dirty="0">
                <a:solidFill>
                  <a:schemeClr val="tx1"/>
                </a:solidFill>
              </a:rPr>
              <a:t>How </a:t>
            </a:r>
            <a:r>
              <a:rPr lang="en-US" sz="2300" dirty="0" err="1">
                <a:solidFill>
                  <a:schemeClr val="tx1"/>
                </a:solidFill>
              </a:rPr>
              <a:t>QuickTurn</a:t>
            </a:r>
            <a:r>
              <a:rPr lang="en-US" sz="2300" dirty="0">
                <a:solidFill>
                  <a:schemeClr val="tx1"/>
                </a:solidFill>
              </a:rPr>
              <a:t> Grading Delivers</a:t>
            </a:r>
          </a:p>
          <a:p>
            <a:r>
              <a:rPr lang="en-US" sz="2300" dirty="0">
                <a:solidFill>
                  <a:schemeClr val="tx1"/>
                </a:solidFill>
              </a:rPr>
              <a:t>That’s exactly what </a:t>
            </a:r>
            <a:r>
              <a:rPr lang="en-US" sz="2300" dirty="0" err="1">
                <a:solidFill>
                  <a:schemeClr val="tx1"/>
                </a:solidFill>
              </a:rPr>
              <a:t>QuickTurn</a:t>
            </a:r>
            <a:r>
              <a:rPr lang="en-US" sz="2300" dirty="0">
                <a:solidFill>
                  <a:schemeClr val="tx1"/>
                </a:solidFill>
              </a:rPr>
              <a:t> Grading is built for. We’re hobby people ourselves, and we know the pain points. Our process focuses on what matters most:</a:t>
            </a:r>
          </a:p>
          <a:p>
            <a:r>
              <a:rPr lang="en-US" sz="2300" dirty="0">
                <a:solidFill>
                  <a:schemeClr val="tx1"/>
                </a:solidFill>
              </a:rPr>
              <a:t>•	Quick turnaround times so you’re not stuck waiting months.</a:t>
            </a:r>
          </a:p>
          <a:p>
            <a:r>
              <a:rPr lang="en-US" sz="2300" dirty="0">
                <a:solidFill>
                  <a:schemeClr val="tx1"/>
                </a:solidFill>
              </a:rPr>
              <a:t>•	Transparent tracking so you always know where your subs are.</a:t>
            </a:r>
          </a:p>
          <a:p>
            <a:r>
              <a:rPr lang="en-US" sz="2300" dirty="0">
                <a:solidFill>
                  <a:schemeClr val="tx1"/>
                </a:solidFill>
              </a:rPr>
              <a:t>•	Reliable, fair standards applied card after card, slab after slab.</a:t>
            </a:r>
          </a:p>
          <a:p>
            <a:r>
              <a:rPr lang="en-US" sz="2300" dirty="0">
                <a:solidFill>
                  <a:schemeClr val="tx1"/>
                </a:solidFill>
              </a:rPr>
              <a:t>No gimmicks, no corporate runaround—just grading that keeps you moving and gives you confidence when you’re selling, trading, or showing off at your next event.</a:t>
            </a:r>
          </a:p>
          <a:p>
            <a:r>
              <a:rPr lang="en-US" sz="2300" dirty="0">
                <a:solidFill>
                  <a:schemeClr val="tx1"/>
                </a:solidFill>
              </a:rPr>
              <a:t>________________________________________</a:t>
            </a:r>
          </a:p>
          <a:p>
            <a:r>
              <a:rPr lang="en-US" sz="2300" dirty="0">
                <a:solidFill>
                  <a:schemeClr val="tx1"/>
                </a:solidFill>
              </a:rPr>
              <a:t>Ready to Sub Your Cards?</a:t>
            </a:r>
          </a:p>
          <a:p>
            <a:r>
              <a:rPr lang="en-US" sz="2300" dirty="0">
                <a:solidFill>
                  <a:schemeClr val="tx1"/>
                </a:solidFill>
              </a:rPr>
              <a:t>If you’re tired of the long waits and head-scratching grades, give </a:t>
            </a:r>
            <a:r>
              <a:rPr lang="en-US" sz="2300" dirty="0" err="1">
                <a:solidFill>
                  <a:schemeClr val="tx1"/>
                </a:solidFill>
              </a:rPr>
              <a:t>QuickTurn</a:t>
            </a:r>
            <a:r>
              <a:rPr lang="en-US" sz="2300" dirty="0">
                <a:solidFill>
                  <a:schemeClr val="tx1"/>
                </a:solidFill>
              </a:rPr>
              <a:t> a shot. Start your submission today and see the difference.</a:t>
            </a:r>
          </a:p>
          <a:p>
            <a:r>
              <a:rPr lang="en-US" sz="2300" dirty="0" err="1">
                <a:solidFill>
                  <a:schemeClr val="tx1"/>
                </a:solidFill>
              </a:rPr>
              <a:t>QuickTurn</a:t>
            </a:r>
            <a:r>
              <a:rPr lang="en-US" sz="2300" dirty="0">
                <a:solidFill>
                  <a:schemeClr val="tx1"/>
                </a:solidFill>
              </a:rPr>
              <a:t> Grading You Can Trust.</a:t>
            </a:r>
          </a:p>
          <a:p>
            <a:endParaRPr lang="en-US" dirty="0"/>
          </a:p>
        </p:txBody>
      </p:sp>
    </p:spTree>
    <p:extLst>
      <p:ext uri="{BB962C8B-B14F-4D97-AF65-F5344CB8AC3E}">
        <p14:creationId xmlns:p14="http://schemas.microsoft.com/office/powerpoint/2010/main" val="561242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4212" y="1718631"/>
            <a:ext cx="8534400" cy="4902506"/>
          </a:xfrm>
        </p:spPr>
        <p:txBody>
          <a:bodyPr>
            <a:normAutofit/>
          </a:bodyPr>
          <a:lstStyle/>
          <a:p>
            <a:pPr algn="ctr"/>
            <a:r>
              <a:rPr lang="en-US" sz="1100" dirty="0"/>
              <a:t>Verse]</a:t>
            </a:r>
            <a:br>
              <a:rPr lang="en-US" sz="1100" dirty="0"/>
            </a:br>
            <a:r>
              <a:rPr lang="en-US" sz="1100" dirty="0"/>
              <a:t>Got a card from a live break</a:t>
            </a:r>
            <a:br>
              <a:rPr lang="en-US" sz="1100" dirty="0"/>
            </a:br>
            <a:r>
              <a:rPr lang="en-US" sz="1100" dirty="0"/>
              <a:t>Pulled a rookie</a:t>
            </a:r>
            <a:br>
              <a:rPr lang="en-US" sz="1100" dirty="0"/>
            </a:br>
            <a:r>
              <a:rPr lang="en-US" sz="1100" dirty="0"/>
              <a:t>It’s no fake</a:t>
            </a:r>
            <a:br>
              <a:rPr lang="en-US" sz="1100" dirty="0"/>
            </a:br>
            <a:r>
              <a:rPr lang="en-US" sz="1100" dirty="0"/>
              <a:t>EBay sales</a:t>
            </a:r>
            <a:br>
              <a:rPr lang="en-US" sz="1100" dirty="0"/>
            </a:br>
            <a:r>
              <a:rPr lang="en-US" sz="1100" dirty="0"/>
              <a:t>They’re </a:t>
            </a:r>
            <a:r>
              <a:rPr lang="en-US" sz="1100" dirty="0" err="1"/>
              <a:t>climbin</a:t>
            </a:r>
            <a:r>
              <a:rPr lang="en-US" sz="1100" dirty="0"/>
              <a:t>’ high</a:t>
            </a:r>
            <a:br>
              <a:rPr lang="en-US" sz="1100" dirty="0"/>
            </a:br>
            <a:r>
              <a:rPr lang="en-US" sz="1100" dirty="0"/>
              <a:t>But is it mint or just alright</a:t>
            </a:r>
            <a:br>
              <a:rPr lang="en-US" sz="1100" dirty="0"/>
            </a:br>
            <a:r>
              <a:rPr lang="en-US" sz="1100" dirty="0"/>
              <a:t/>
            </a:r>
            <a:br>
              <a:rPr lang="en-US" sz="1100" dirty="0"/>
            </a:br>
            <a:r>
              <a:rPr lang="en-US" sz="1100" dirty="0"/>
              <a:t>[Chorus]</a:t>
            </a:r>
            <a:br>
              <a:rPr lang="en-US" sz="1100" dirty="0"/>
            </a:br>
            <a:r>
              <a:rPr lang="en-US" sz="1100" dirty="0" err="1"/>
              <a:t>Quickturn</a:t>
            </a:r>
            <a:r>
              <a:rPr lang="en-US" sz="1100" dirty="0"/>
              <a:t> Grading</a:t>
            </a:r>
            <a:br>
              <a:rPr lang="en-US" sz="1100" dirty="0"/>
            </a:br>
            <a:r>
              <a:rPr lang="en-US" sz="1100" dirty="0"/>
              <a:t>Fast and true</a:t>
            </a:r>
            <a:br>
              <a:rPr lang="en-US" sz="1100" dirty="0"/>
            </a:br>
            <a:r>
              <a:rPr lang="en-US" sz="1100" dirty="0"/>
              <a:t>Collectors trust</a:t>
            </a:r>
            <a:br>
              <a:rPr lang="en-US" sz="1100" dirty="0"/>
            </a:br>
            <a:r>
              <a:rPr lang="en-US" sz="1100" dirty="0"/>
              <a:t>We’ve got you</a:t>
            </a:r>
            <a:br>
              <a:rPr lang="en-US" sz="1100" dirty="0"/>
            </a:br>
            <a:r>
              <a:rPr lang="en-US" sz="1100" dirty="0"/>
              <a:t>At card shows or online trades</a:t>
            </a:r>
            <a:br>
              <a:rPr lang="en-US" sz="1100" dirty="0"/>
            </a:br>
            <a:r>
              <a:rPr lang="en-US" sz="1100" dirty="0" err="1"/>
              <a:t>Quickturn’s</a:t>
            </a:r>
            <a:r>
              <a:rPr lang="en-US" sz="1100" dirty="0"/>
              <a:t> how the grade gets made</a:t>
            </a:r>
            <a:br>
              <a:rPr lang="en-US" sz="1100" dirty="0"/>
            </a:br>
            <a:r>
              <a:rPr lang="en-US" sz="1100" dirty="0"/>
              <a:t/>
            </a:r>
            <a:br>
              <a:rPr lang="en-US" sz="1100" dirty="0"/>
            </a:br>
            <a:r>
              <a:rPr lang="en-US" sz="1100" dirty="0"/>
              <a:t>[Bridge]</a:t>
            </a:r>
            <a:br>
              <a:rPr lang="en-US" sz="1100" dirty="0"/>
            </a:br>
            <a:r>
              <a:rPr lang="en-US" sz="1100" dirty="0"/>
              <a:t>Slabs so clean</a:t>
            </a:r>
            <a:br>
              <a:rPr lang="en-US" sz="1100" dirty="0"/>
            </a:br>
            <a:r>
              <a:rPr lang="en-US" sz="1100" dirty="0"/>
              <a:t>Your cards shine bright</a:t>
            </a:r>
            <a:br>
              <a:rPr lang="en-US" sz="1100" dirty="0"/>
            </a:br>
            <a:r>
              <a:rPr lang="en-US" sz="1100" dirty="0"/>
              <a:t>Flip it fast or hold it tight</a:t>
            </a:r>
            <a:br>
              <a:rPr lang="en-US" sz="1100" dirty="0"/>
            </a:br>
            <a:r>
              <a:rPr lang="en-US" sz="1100" dirty="0"/>
              <a:t/>
            </a:r>
            <a:br>
              <a:rPr lang="en-US" sz="1100" dirty="0"/>
            </a:br>
            <a:r>
              <a:rPr lang="en-US" sz="1100" dirty="0"/>
              <a:t>[Outro]</a:t>
            </a:r>
            <a:br>
              <a:rPr lang="en-US" sz="1100" dirty="0"/>
            </a:br>
            <a:r>
              <a:rPr lang="en-US" sz="1100" dirty="0" err="1"/>
              <a:t>Quickturn</a:t>
            </a:r>
            <a:r>
              <a:rPr lang="en-US" sz="1100" dirty="0"/>
              <a:t> Grading</a:t>
            </a:r>
            <a:br>
              <a:rPr lang="en-US" sz="1100" dirty="0"/>
            </a:br>
            <a:r>
              <a:rPr lang="en-US" sz="1100" dirty="0"/>
              <a:t>Fast and true</a:t>
            </a:r>
            <a:br>
              <a:rPr lang="en-US" sz="1100" dirty="0"/>
            </a:br>
            <a:r>
              <a:rPr lang="en-US" sz="1100" dirty="0"/>
              <a:t>For hobby heads just like you</a:t>
            </a:r>
            <a:r>
              <a:rPr lang="en-US" dirty="0"/>
              <a:t/>
            </a:r>
            <a:br>
              <a:rPr lang="en-US" dirty="0"/>
            </a:br>
            <a:endParaRPr lang="en-US" dirty="0"/>
          </a:p>
        </p:txBody>
      </p:sp>
      <p:sp>
        <p:nvSpPr>
          <p:cNvPr id="3" name="Content Placeholder 2"/>
          <p:cNvSpPr>
            <a:spLocks noGrp="1"/>
          </p:cNvSpPr>
          <p:nvPr>
            <p:ph idx="1"/>
          </p:nvPr>
        </p:nvSpPr>
        <p:spPr>
          <a:xfrm>
            <a:off x="684212" y="685801"/>
            <a:ext cx="8534400" cy="834528"/>
          </a:xfrm>
        </p:spPr>
        <p:txBody>
          <a:bodyPr>
            <a:normAutofit/>
          </a:bodyPr>
          <a:lstStyle/>
          <a:p>
            <a:pPr marL="0" indent="0" algn="ctr">
              <a:buNone/>
            </a:pPr>
            <a:r>
              <a:rPr lang="en-US" sz="4800" dirty="0" smtClean="0">
                <a:solidFill>
                  <a:schemeClr val="tx1"/>
                </a:solidFill>
              </a:rPr>
              <a:t>Audio Jingle</a:t>
            </a:r>
            <a:endParaRPr lang="en-US" sz="4800" dirty="0">
              <a:solidFill>
                <a:schemeClr val="tx1"/>
              </a:solidFill>
            </a:endParaRPr>
          </a:p>
        </p:txBody>
      </p:sp>
      <p:pic>
        <p:nvPicPr>
          <p:cNvPr id="4" name="Quickturn Grading Jingle (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506420" y="579303"/>
            <a:ext cx="609600" cy="609600"/>
          </a:xfrm>
          <a:prstGeom prst="rect">
            <a:avLst/>
          </a:prstGeom>
        </p:spPr>
      </p:pic>
    </p:spTree>
    <p:extLst>
      <p:ext uri="{BB962C8B-B14F-4D97-AF65-F5344CB8AC3E}">
        <p14:creationId xmlns:p14="http://schemas.microsoft.com/office/powerpoint/2010/main" val="224113904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
                    </p:tgtEl>
                  </p:cond>
                </p:stCondLst>
                <p:endSync evt="end" delay="0">
                  <p:rtn val="all"/>
                </p:endSync>
                <p:childTnLst>
                  <p:par>
                    <p:cTn id="3" fill="hold">
                      <p:stCondLst>
                        <p:cond delay="0"/>
                      </p:stCondLst>
                      <p:childTnLst>
                        <p:par>
                          <p:cTn id="4" fill="hold">
                            <p:stCondLst>
                              <p:cond delay="0"/>
                            </p:stCondLst>
                            <p:childTnLst>
                              <p:par>
                                <p:cTn id="5" presetID="1" presetClass="mediacall" presetSubtype="0" fill="hold" nodeType="clickEffect">
                                  <p:stCondLst>
                                    <p:cond delay="0"/>
                                  </p:stCondLst>
                                  <p:childTnLst>
                                    <p:cmd type="call" cmd="playFrom(0.0)">
                                      <p:cBhvr>
                                        <p:cTn id="6" dur="91680" fill="hold"/>
                                        <p:tgtEl>
                                          <p:spTgt spid="4"/>
                                        </p:tgtEl>
                                      </p:cBhvr>
                                    </p:cmd>
                                  </p:childTnLst>
                                </p:cTn>
                              </p:par>
                            </p:childTnLst>
                          </p:cTn>
                        </p:par>
                      </p:childTnLst>
                    </p:cTn>
                  </p:par>
                </p:childTnLst>
              </p:cTn>
              <p:nextCondLst>
                <p:cond evt="onClick" delay="0">
                  <p:tgtEl>
                    <p:spTgt spid="4"/>
                  </p:tgtEl>
                </p:cond>
              </p:nextCondLst>
            </p:seq>
            <p:audio>
              <p:cMediaNode vol="80000">
                <p:cTn id="7" fill="hold" display="0">
                  <p:stCondLst>
                    <p:cond delay="indefinite"/>
                  </p:stCondLst>
                  <p:endCondLst>
                    <p:cond evt="onStopAudio" delay="0">
                      <p:tgtEl>
                        <p:sldTgt/>
                      </p:tgtEl>
                    </p:cond>
                  </p:endCondLst>
                </p:cTn>
                <p:tgtEl>
                  <p:spTgt spid="4"/>
                </p:tgtEl>
              </p:cMediaNode>
            </p:audio>
          </p:childTnLst>
        </p:cTn>
      </p:par>
    </p:tnLst>
  </p:timing>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61</TotalTime>
  <Words>637</Words>
  <Application>Microsoft Office PowerPoint</Application>
  <PresentationFormat>Widescreen</PresentationFormat>
  <Paragraphs>54</Paragraphs>
  <Slides>7</Slides>
  <Notes>7</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Century Gothic</vt:lpstr>
      <vt:lpstr>Wingdings 3</vt:lpstr>
      <vt:lpstr>Slice</vt:lpstr>
      <vt:lpstr>Unit 7 Marketing Assignment</vt:lpstr>
      <vt:lpstr>Target Market</vt:lpstr>
      <vt:lpstr>SLogan</vt:lpstr>
      <vt:lpstr>Poster Advertisement</vt:lpstr>
      <vt:lpstr>PowerPoint Presentation</vt:lpstr>
      <vt:lpstr>Blog Style Explainer</vt:lpstr>
      <vt:lpstr>Verse] Got a card from a live break Pulled a rookie It’s no fake EBay sales They’re climbin’ high But is it mint or just alright  [Chorus] Quickturn Grading Fast and true Collectors trust We’ve got you At card shows or online trades Quickturn’s how the grade gets made  [Bridge] Slabs so clean Your cards shine bright Flip it fast or hold it tight  [Outro] Quickturn Grading Fast and true For hobby heads just like you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7 Marketing Assignment</dc:title>
  <dc:creator>bob lynn</dc:creator>
  <cp:lastModifiedBy>bob lynn</cp:lastModifiedBy>
  <cp:revision>7</cp:revision>
  <dcterms:created xsi:type="dcterms:W3CDTF">2025-09-29T14:52:52Z</dcterms:created>
  <dcterms:modified xsi:type="dcterms:W3CDTF">2026-06-15T17:55:11Z</dcterms:modified>
</cp:coreProperties>
</file>